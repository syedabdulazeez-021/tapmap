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one-line pitch: inspectors find hollow tiles by tapping and listening. TapMap does the tapping, the listening, and the mapping — autonomously.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 that percussion sounding is an accepted NDT method — ASTM D4580 — not something we invented. We are automating an existing accepted practice.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sets up the gap our project fills. Expect a question on why not thermography — answer: cost, and it needs a thermal gradient which indoor floors rarely have.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step 1 and step 7. Step 1 is the autonomy claim; step 7 is how we prove the map is trustworthy.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Expected question: what if the room is not rectangular? Answer: v1 assumes a convex rectangular workspace and a max_area safety parameter; non-convex perimeter tracing is future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defence: the Pi cannot do jitter-free 100 ms audio gating because Linux preempts it; the ESP32 cannot run ROS 2 or a CNN. The split IS the architecture.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one of these is a question a reviewer may ask. Knowing why we did NOT choose the obvious alternative is worth more than the choice itself.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that node count is not the metric — the reason for the split is. ESP32 holds one node with many interfaces to minimise DDS overhead on a memory-constrained MCU.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Custom interfaces: TapResult.msg, ScanArea.action, DiscoverArea.action in package ss_interfaces. Being able to say why NOT Nav2 scores more than using it decoratively.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 why navigation is not learned: on a known rectangular grid a learned controller adds training burden and failure modes with zero accuracy gain. Classical control is the correct engineering choice.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reviewers will dig into. The tapper_link TF detail and the confidence weighting are the two points that show engineering maturity.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they ask to see something running, open the simulation live: ros2 launch tapmap sim.launch.py, then send a scan goal and show RViz.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return error is the self-audit: if odometry had drifted, the robot would not land within 1.47 cm of its start mark after 187 taps, and every coordinate on the map would be suspect.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point 4 — the interactive verification. It is the single most memorable thing in the whole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Anticipated questions: ambient noise (answer: 100 ms gated capture, tap transient SNR is huge), non-rectangular rooms (future work), why not a camera (no visual signature — the defect is subsurface).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371600"/>
            <a:ext cx="1828800" cy="384048"/>
          </a:xfrm>
          <a:prstGeom prst="roundRect">
            <a:avLst>
              <a:gd name="adj" fmla="val 23810"/>
            </a:avLst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731520" y="13716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REVIEW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TapMap</a:t>
            </a:r>
            <a:endParaRPr lang="en-US" sz="6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97180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5A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Autonomous Percussive Defect-Mapping Rover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61188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B9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Robotic automation of ASTM-style tap testing — finds hidden hollow tiles and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B9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 delamination, and turns them into a spatial defect map.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489204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8A5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513892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CSE-AI · Batch A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794760" y="489204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8A5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3794760" y="513892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2 · Robotics · Deep Learning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858000" y="489204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8A5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6858000" y="513892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₹3,000 of ₹6,000 cap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5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Structural defects you cannot see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floor tile, façade cladding or concrete deck can look perfectly intact while the adhesive layer beneath it has failed — leaving a hidden air gap called debonding or delamination.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6400800" cy="1170432"/>
          </a:xfrm>
          <a:prstGeom prst="roundRect">
            <a:avLst>
              <a:gd name="adj" fmla="val 4688"/>
            </a:avLst>
          </a:prstGeom>
          <a:solidFill>
            <a:srgbClr val="F4F6F7"/>
          </a:solidFill>
          <a:ln w="9525">
            <a:solidFill>
              <a:srgbClr val="D5DBD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2578608"/>
            <a:ext cx="201168" cy="201168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51560" y="2514600"/>
            <a:ext cx="5715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Façade tiles fall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68096" y="2907792"/>
            <a:ext cx="596188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Detached cladding drops from buildings onto pedestrians — a recurring cause of injury and death in Indian cities.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3703320"/>
            <a:ext cx="6400800" cy="1170432"/>
          </a:xfrm>
          <a:prstGeom prst="roundRect">
            <a:avLst>
              <a:gd name="adj" fmla="val 4688"/>
            </a:avLst>
          </a:prstGeom>
          <a:solidFill>
            <a:srgbClr val="F4F6F7"/>
          </a:solidFill>
          <a:ln w="9525">
            <a:solidFill>
              <a:srgbClr val="D5DBD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9808" y="3904488"/>
            <a:ext cx="201168" cy="201168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51560" y="3840480"/>
            <a:ext cx="5715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decks fail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68096" y="4233672"/>
            <a:ext cx="596188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Rebar corrodes, expands, and cracks the concrete cover from inside. Delamination is the earliest visible symptom.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5029200"/>
            <a:ext cx="6400800" cy="1170432"/>
          </a:xfrm>
          <a:prstGeom prst="roundRect">
            <a:avLst>
              <a:gd name="adj" fmla="val 4688"/>
            </a:avLst>
          </a:prstGeom>
          <a:solidFill>
            <a:srgbClr val="F4F6F7"/>
          </a:solidFill>
          <a:ln w="9525">
            <a:solidFill>
              <a:srgbClr val="D5DBD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9808" y="5230368"/>
            <a:ext cx="201168" cy="201168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51560" y="5166360"/>
            <a:ext cx="5715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Homes crack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68096" y="5559552"/>
            <a:ext cx="596188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Hollow floor tiles pop, crack under load, and require full re-laying instead of a spot repair.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406640" y="1325880"/>
            <a:ext cx="4206240" cy="4572000"/>
          </a:xfrm>
          <a:prstGeom prst="roundRect">
            <a:avLst>
              <a:gd name="adj" fmla="val 1304"/>
            </a:avLst>
          </a:prstGeom>
          <a:solidFill>
            <a:srgbClr val="1C2833"/>
          </a:solidFill>
          <a:ln w="9525">
            <a:solidFill>
              <a:srgbClr val="D5DBD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680960" y="1600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SOUNDING PHYSICS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7680960" y="2057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Bonded tile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680960" y="2395728"/>
            <a:ext cx="3657600" cy="274320"/>
          </a:xfrm>
          <a:prstGeom prst="rect">
            <a:avLst/>
          </a:prstGeom>
          <a:solidFill>
            <a:srgbClr val="8FA0AB"/>
          </a:solidFill>
          <a:ln w="12700">
            <a:solidFill>
              <a:srgbClr val="8FA0A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680960" y="2670048"/>
            <a:ext cx="3657600" cy="201168"/>
          </a:xfrm>
          <a:prstGeom prst="rect">
            <a:avLst/>
          </a:prstGeom>
          <a:solidFill>
            <a:srgbClr val="4A5A66"/>
          </a:solidFill>
          <a:ln w="12700">
            <a:solidFill>
              <a:srgbClr val="4A5A6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680960" y="2926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9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 "tick"  ·  ~2 kHz  ·  fast decay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7680960" y="3520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Debonded tile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680960" y="3858768"/>
            <a:ext cx="3657600" cy="274320"/>
          </a:xfrm>
          <a:prstGeom prst="rect">
            <a:avLst/>
          </a:prstGeom>
          <a:solidFill>
            <a:srgbClr val="8FA0AB"/>
          </a:solidFill>
          <a:ln w="12700">
            <a:solidFill>
              <a:srgbClr val="8FA0A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680960" y="4133088"/>
            <a:ext cx="3657600" cy="201168"/>
          </a:xfrm>
          <a:prstGeom prst="rect">
            <a:avLst/>
          </a:prstGeom>
          <a:solidFill>
            <a:srgbClr val="1C2833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680960" y="4334256"/>
            <a:ext cx="3657600" cy="164592"/>
          </a:xfrm>
          <a:prstGeom prst="rect">
            <a:avLst/>
          </a:prstGeom>
          <a:solidFill>
            <a:srgbClr val="4A5A66"/>
          </a:solidFill>
          <a:ln w="12700">
            <a:solidFill>
              <a:srgbClr val="4A5A6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680960" y="413308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GAP</a:t>
            </a:r>
            <a:endParaRPr lang="en-US" sz="850" dirty="0"/>
          </a:p>
        </p:txBody>
      </p:sp>
      <p:sp>
        <p:nvSpPr>
          <p:cNvPr id="28" name="Text 26"/>
          <p:cNvSpPr txBox="1"/>
          <p:nvPr/>
        </p:nvSpPr>
        <p:spPr>
          <a:xfrm>
            <a:off x="7680960" y="4572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9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dull "thud"  ·  ~500 Hz  ·  slow decay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7680960" y="50749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air gap changes the acoustic response.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difference is what TapMap measures.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5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SOLUTIONS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options today — both inadequate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94960" cy="3977640"/>
          </a:xfrm>
          <a:prstGeom prst="roundRect">
            <a:avLst>
              <a:gd name="adj" fmla="val 1379"/>
            </a:avLst>
          </a:prstGeom>
          <a:solidFill>
            <a:srgbClr val="F4F6F7"/>
          </a:solidFill>
          <a:ln w="9525">
            <a:solidFill>
              <a:srgbClr val="D5DBD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6459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A5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TAP TESTING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196596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inspector strikes the surface with a rod and judges the sound by ear.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68680" y="2697480"/>
            <a:ext cx="146304" cy="146304"/>
          </a:xfrm>
          <a:prstGeom prst="ellipse">
            <a:avLst/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43000" y="26243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Subjective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2468880" y="262432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 entirely on one person’s ear and experience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68680" y="3319272"/>
            <a:ext cx="146304" cy="146304"/>
          </a:xfrm>
          <a:prstGeom prst="ellipse">
            <a:avLst/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143000" y="32461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record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2468880" y="32461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map, no coordinates, no repeatable evidence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68680" y="3941064"/>
            <a:ext cx="146304" cy="146304"/>
          </a:xfrm>
          <a:prstGeom prst="ellipse">
            <a:avLst/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143000" y="38679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&amp; tiring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2468880" y="386791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fatigue degrades accuracy over a large area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68680" y="4562856"/>
            <a:ext cx="146304" cy="146304"/>
          </a:xfrm>
          <a:prstGeom prst="ellipse">
            <a:avLst/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143000" y="448970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repeatable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2468880" y="4489704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inspectors, two different results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1371600"/>
            <a:ext cx="5394960" cy="3977640"/>
          </a:xfrm>
          <a:prstGeom prst="roundRect">
            <a:avLst>
              <a:gd name="adj" fmla="val 1379"/>
            </a:avLst>
          </a:prstGeom>
          <a:solidFill>
            <a:srgbClr val="F4F6F7"/>
          </a:solidFill>
          <a:ln w="9525">
            <a:solidFill>
              <a:srgbClr val="D5DBD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537960" y="16459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A5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NDT INSTRUMENTS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537960" y="196596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GPR, infrared thermography, ultrasonic array scanners.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537960" y="2697480"/>
            <a:ext cx="146304" cy="146304"/>
          </a:xfrm>
          <a:prstGeom prst="ellipse">
            <a:avLst/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12280" y="26243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8138160" y="262432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lakh rupees per instrument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537960" y="3319272"/>
            <a:ext cx="146304" cy="146304"/>
          </a:xfrm>
          <a:prstGeom prst="ellipse">
            <a:avLst/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812280" y="32461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8138160" y="32461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a trained operator to interpret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537960" y="3941064"/>
            <a:ext cx="146304" cy="146304"/>
          </a:xfrm>
          <a:prstGeom prst="ellipse">
            <a:avLst/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812280" y="38679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8138160" y="386791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reach for municipal bodies and housing societies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537960" y="4562856"/>
            <a:ext cx="146304" cy="146304"/>
          </a:xfrm>
          <a:prstGeom prst="ellipse">
            <a:avLst/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812280" y="448970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8138160" y="4489704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hand-held — no autonomous area coverage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48640" y="5623560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1C2833"/>
          </a:solidFill>
          <a:ln w="12700">
            <a:solidFill>
              <a:srgbClr val="1C2833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48640" y="562356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gap: nobody has cheaply robotised percussion sounding with spatial mapping.  TapMap costs ₹3,000.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5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OF OPERATION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robot works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Placed at any corner of a room. Everything after that is autonomous — including discovering the size of the area it must scan.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606040" cy="1783080"/>
          </a:xfrm>
          <a:prstGeom prst="roundRect">
            <a:avLst>
              <a:gd name="adj" fmla="val 3077"/>
            </a:avLst>
          </a:prstGeom>
          <a:solidFill>
            <a:srgbClr val="F4F6F7"/>
          </a:solidFill>
          <a:ln w="9525">
            <a:solidFill>
              <a:srgbClr val="D5DBD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167128"/>
            <a:ext cx="384048" cy="384048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167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261872" y="218541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679192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5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the room boundary using the ToF sensor to discover the scan rectangle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83280" y="1965960"/>
            <a:ext cx="2606040" cy="1783080"/>
          </a:xfrm>
          <a:prstGeom prst="roundRect">
            <a:avLst>
              <a:gd name="adj" fmla="val 3077"/>
            </a:avLst>
          </a:prstGeom>
          <a:solidFill>
            <a:srgbClr val="F4F6F7"/>
          </a:solidFill>
          <a:ln w="9525">
            <a:solidFill>
              <a:srgbClr val="D5DBD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11880" y="2167128"/>
            <a:ext cx="384048" cy="384048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611880" y="2167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096512" y="218541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611880" y="2679192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5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taps on a known-good area learn this surface’s baseline signature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17920" y="1965960"/>
            <a:ext cx="2606040" cy="1783080"/>
          </a:xfrm>
          <a:prstGeom prst="roundRect">
            <a:avLst>
              <a:gd name="adj" fmla="val 3077"/>
            </a:avLst>
          </a:prstGeom>
          <a:solidFill>
            <a:srgbClr val="F4F6F7"/>
          </a:solidFill>
          <a:ln w="9525">
            <a:solidFill>
              <a:srgbClr val="D5DBD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46520" y="2167128"/>
            <a:ext cx="384048" cy="384048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46520" y="2167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931152" y="218541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446520" y="2679192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5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Boustrophedon (lawnmower) grid generated over the discovered area, 8 cm spacing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052560" y="1965960"/>
            <a:ext cx="2606040" cy="1783080"/>
          </a:xfrm>
          <a:prstGeom prst="roundRect">
            <a:avLst>
              <a:gd name="adj" fmla="val 3077"/>
            </a:avLst>
          </a:prstGeom>
          <a:solidFill>
            <a:srgbClr val="F4F6F7"/>
          </a:solidFill>
          <a:ln w="9525">
            <a:solidFill>
              <a:srgbClr val="D5DBD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281160" y="2167128"/>
            <a:ext cx="384048" cy="384048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281160" y="2167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9765792" y="218541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9281160" y="2679192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5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→ settle 400 ms → 30 ms solenoid strike → 100 ms gated audio capture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3977640"/>
            <a:ext cx="2606040" cy="1783080"/>
          </a:xfrm>
          <a:prstGeom prst="roundRect">
            <a:avLst>
              <a:gd name="adj" fmla="val 3077"/>
            </a:avLst>
          </a:prstGeom>
          <a:solidFill>
            <a:srgbClr val="F4F6F7"/>
          </a:solidFill>
          <a:ln w="9525">
            <a:solidFill>
              <a:srgbClr val="D5DBD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77240" y="4178808"/>
            <a:ext cx="384048" cy="384048"/>
          </a:xfrm>
          <a:prstGeom prst="ellipse">
            <a:avLst/>
          </a:prstGeom>
          <a:solidFill>
            <a:srgbClr val="1C2833"/>
          </a:solidFill>
          <a:ln w="12700">
            <a:solidFill>
              <a:srgbClr val="1C283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77240" y="4178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1261872" y="419709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777240" y="4690872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5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MFCC features → CNN → bonded / debonded with a confidence score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383280" y="3977640"/>
            <a:ext cx="2606040" cy="1783080"/>
          </a:xfrm>
          <a:prstGeom prst="roundRect">
            <a:avLst>
              <a:gd name="adj" fmla="val 3077"/>
            </a:avLst>
          </a:prstGeom>
          <a:solidFill>
            <a:srgbClr val="F4F6F7"/>
          </a:solidFill>
          <a:ln w="9525">
            <a:solidFill>
              <a:srgbClr val="D5DBD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11880" y="4178808"/>
            <a:ext cx="384048" cy="384048"/>
          </a:xfrm>
          <a:prstGeom prst="ellipse">
            <a:avLst/>
          </a:prstGeom>
          <a:solidFill>
            <a:srgbClr val="1C2833"/>
          </a:solidFill>
          <a:ln w="12700">
            <a:solidFill>
              <a:srgbClr val="1C283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611880" y="4178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4096512" y="419709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3611880" y="4690872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5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stamped at tapper_link pose into a live occupancy-grid heat map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217920" y="3977640"/>
            <a:ext cx="2606040" cy="1783080"/>
          </a:xfrm>
          <a:prstGeom prst="roundRect">
            <a:avLst>
              <a:gd name="adj" fmla="val 3077"/>
            </a:avLst>
          </a:prstGeom>
          <a:solidFill>
            <a:srgbClr val="F4F6F7"/>
          </a:solidFill>
          <a:ln w="9525">
            <a:solidFill>
              <a:srgbClr val="D5DBD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46520" y="4178808"/>
            <a:ext cx="384048" cy="384048"/>
          </a:xfrm>
          <a:prstGeom prst="ellipse">
            <a:avLst/>
          </a:prstGeom>
          <a:solidFill>
            <a:srgbClr val="1C2833"/>
          </a:solidFill>
          <a:ln w="12700">
            <a:solidFill>
              <a:srgbClr val="1C2833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446520" y="4178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6931152" y="419709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6446520" y="4690872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5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back to origin; reports its own position error as an accuracy audit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9052560" y="3977640"/>
            <a:ext cx="2606040" cy="1783080"/>
          </a:xfrm>
          <a:prstGeom prst="roundRect">
            <a:avLst>
              <a:gd name="adj" fmla="val 3077"/>
            </a:avLst>
          </a:prstGeom>
          <a:solidFill>
            <a:srgbClr val="F4F6F7"/>
          </a:solidFill>
          <a:ln w="9525">
            <a:solidFill>
              <a:srgbClr val="D5DBD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281160" y="4178808"/>
            <a:ext cx="384048" cy="384048"/>
          </a:xfrm>
          <a:prstGeom prst="ellipse">
            <a:avLst/>
          </a:prstGeom>
          <a:solidFill>
            <a:srgbClr val="1C2833"/>
          </a:solidFill>
          <a:ln w="12700">
            <a:solidFill>
              <a:srgbClr val="1C2833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9281160" y="4178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9765792" y="419709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300" dirty="0"/>
          </a:p>
        </p:txBody>
      </p:sp>
      <p:sp>
        <p:nvSpPr>
          <p:cNvPr id="44" name="Text 42"/>
          <p:cNvSpPr txBox="1"/>
          <p:nvPr/>
        </p:nvSpPr>
        <p:spPr>
          <a:xfrm>
            <a:off x="9281160" y="4690872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5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Refined defect regions exported as a PDF inspection report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5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EXPLORE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robot finds its own workspace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6492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dimensions are typed in. Using a single forward-facing ToF sensor, the rover itself acts as the pan mechanism: it drives, sees a wall, turns on gyro heading, and drives again.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148840"/>
            <a:ext cx="329184" cy="329184"/>
          </a:xfrm>
          <a:prstGeom prst="ellipse">
            <a:avLst/>
          </a:prstGeom>
          <a:solidFill>
            <a:srgbClr val="1C2833"/>
          </a:solidFill>
          <a:ln w="12700">
            <a:solidFill>
              <a:srgbClr val="1C28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21488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2130552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Placed at a corner; odometry zeroed, map frame anchored here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2907792"/>
            <a:ext cx="329184" cy="329184"/>
          </a:xfrm>
          <a:prstGeom prst="ellipse">
            <a:avLst/>
          </a:prstGeom>
          <a:solidFill>
            <a:srgbClr val="1C2833"/>
          </a:solidFill>
          <a:ln w="12700">
            <a:solidFill>
              <a:srgbClr val="1C28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29077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2889504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forward until ToF &lt; 15 cm → wall found → records length L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66928" y="3666744"/>
            <a:ext cx="329184" cy="329184"/>
          </a:xfrm>
          <a:prstGeom prst="ellipse">
            <a:avLst/>
          </a:prstGeom>
          <a:solidFill>
            <a:srgbClr val="1C2833"/>
          </a:solidFill>
          <a:ln w="12700">
            <a:solidFill>
              <a:srgbClr val="1C28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66928" y="36667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051560" y="3648456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Rotates 90° closed-loop on fused gyro heading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4425696"/>
            <a:ext cx="329184" cy="329184"/>
          </a:xfrm>
          <a:prstGeom prst="ellipse">
            <a:avLst/>
          </a:prstGeom>
          <a:solidFill>
            <a:srgbClr val="1C2833"/>
          </a:solidFill>
          <a:ln w="12700">
            <a:solidFill>
              <a:srgbClr val="1C28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66928" y="44256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051560" y="4407408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until the next wall → records width W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66928" y="5184648"/>
            <a:ext cx="329184" cy="329184"/>
          </a:xfrm>
          <a:prstGeom prst="ellipse">
            <a:avLst/>
          </a:prstGeom>
          <a:solidFill>
            <a:srgbClr val="1C2833"/>
          </a:solidFill>
          <a:ln w="12700">
            <a:solidFill>
              <a:srgbClr val="1C28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66928" y="5184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051560" y="516636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to origin; the L × W rectangle becomes the scan area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315200" y="1298448"/>
            <a:ext cx="4297680" cy="4160520"/>
          </a:xfrm>
          <a:prstGeom prst="roundRect">
            <a:avLst>
              <a:gd name="adj" fmla="val 1319"/>
            </a:avLst>
          </a:prstGeom>
          <a:solidFill>
            <a:srgbClr val="1C2833"/>
          </a:solidFill>
          <a:ln w="9525">
            <a:solidFill>
              <a:srgbClr val="D5DBD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589520" y="15087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DISCOVERED RECTANGLE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726680" y="1965960"/>
            <a:ext cx="3566160" cy="2377440"/>
          </a:xfrm>
          <a:prstGeom prst="rect">
            <a:avLst/>
          </a:prstGeom>
          <a:solidFill>
            <a:srgbClr val="2C3E50"/>
          </a:solidFill>
          <a:ln w="19050">
            <a:solidFill>
              <a:srgbClr val="8FA0A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01000" y="4069080"/>
            <a:ext cx="3017520" cy="0"/>
          </a:xfrm>
          <a:prstGeom prst="line">
            <a:avLst/>
          </a:prstGeom>
          <a:noFill/>
          <a:ln w="31750">
            <a:solidFill>
              <a:srgbClr val="F5A52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11018520" y="4069080"/>
            <a:ext cx="0" cy="-1737360"/>
          </a:xfrm>
          <a:prstGeom prst="line">
            <a:avLst/>
          </a:prstGeom>
          <a:noFill/>
          <a:ln w="31750">
            <a:solidFill>
              <a:srgbClr val="F5A524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882128" y="3950208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138160" y="39319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9235440" y="413308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11082528" y="306324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7726680" y="461772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B9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then fills this rectangle with the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B9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grid — 8 cm spacing, ~150 taps per m².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598932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F4F6F7"/>
          </a:solidFill>
          <a:ln w="12700">
            <a:solidFill>
              <a:srgbClr val="D5DBD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48640" y="59893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2 impact: a second action server /discover_area feeding /scan_area, sequenced by a mission-planner state machine.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5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IMPLEMENTATION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 architecture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 real-time client, thick onboard brain. The rover is fully autonomous — a laptop, when present, is only an RViz viewer.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743200" cy="3840480"/>
          </a:xfrm>
          <a:prstGeom prst="roundRect">
            <a:avLst>
              <a:gd name="adj" fmla="val 2000"/>
            </a:avLst>
          </a:prstGeom>
          <a:solidFill>
            <a:srgbClr val="F4F6F7"/>
          </a:solidFill>
          <a:ln w="9525">
            <a:solidFill>
              <a:srgbClr val="D5DBD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0116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8A5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3957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V battery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63347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0175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XL4015 buck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25526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5 V / 3 A for Pi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6393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L298N driver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387705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V-rated motor stage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426110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MOSFET stage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449884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IRLZ44N + 1N5822 + 1000 µF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488289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E-stop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512064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cuts actuator power only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11880" y="1828800"/>
            <a:ext cx="3931920" cy="1783080"/>
          </a:xfrm>
          <a:prstGeom prst="roundRect">
            <a:avLst>
              <a:gd name="adj" fmla="val 3077"/>
            </a:avLst>
          </a:prstGeom>
          <a:solidFill>
            <a:srgbClr val="1C2833"/>
          </a:solidFill>
          <a:ln w="9525">
            <a:solidFill>
              <a:srgbClr val="D5DBD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840480" y="202996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4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3840480" y="234086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8FA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BRAIN  ·  ROS 2 Jazzy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3840480" y="265176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planner · EKF localisation · CNN classifier · defect mapper · PDF report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577840" y="3611880"/>
            <a:ext cx="0" cy="411480"/>
          </a:xfrm>
          <a:prstGeom prst="line">
            <a:avLst/>
          </a:prstGeom>
          <a:noFill/>
          <a:ln w="31750">
            <a:solidFill>
              <a:srgbClr val="F5A524"/>
            </a:solidFill>
            <a:prstDash val="solid"/>
            <a:headEnd type="triangle"/>
            <a:tailEnd type="triangle"/>
          </a:ln>
        </p:spPr>
      </p:sp>
      <p:sp>
        <p:nvSpPr>
          <p:cNvPr id="22" name="Text 20"/>
          <p:cNvSpPr txBox="1"/>
          <p:nvPr/>
        </p:nvSpPr>
        <p:spPr>
          <a:xfrm>
            <a:off x="5715000" y="36758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5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 serial · micro-ROS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611880" y="4041648"/>
            <a:ext cx="3931920" cy="1627632"/>
          </a:xfrm>
          <a:prstGeom prst="roundRect">
            <a:avLst>
              <a:gd name="adj" fmla="val 3371"/>
            </a:avLst>
          </a:prstGeom>
          <a:solidFill>
            <a:srgbClr val="2C3E50"/>
          </a:solidFill>
          <a:ln w="9525">
            <a:solidFill>
              <a:srgbClr val="D5DBD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840480" y="422452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ESP32-WROOM-32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3840480" y="453542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B9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REFLEXES  ·  micro-ROS client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3840480" y="4846320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Hz motor PID · encoder ISR counting · solenoid gate · I²S audio capture (&lt;2 ms jitter)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863840" y="1828800"/>
            <a:ext cx="3749040" cy="3840480"/>
          </a:xfrm>
          <a:prstGeom prst="roundRect">
            <a:avLst>
              <a:gd name="adj" fmla="val 1463"/>
            </a:avLst>
          </a:prstGeom>
          <a:solidFill>
            <a:srgbClr val="F4F6F7"/>
          </a:solidFill>
          <a:ln w="9525">
            <a:solidFill>
              <a:srgbClr val="D5DBD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092440" y="201168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8A5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 &amp; ACTUATORS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8092440" y="237744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 N20 + encoders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8092440" y="2596896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700 ticks/rev → 0.19 mm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8092440" y="292608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V solenoid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8092440" y="3145536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ms strike, rubber tip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8092440" y="347472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INMP441 I²S mic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8092440" y="3694176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→ immune to PWM noise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8092440" y="402336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MPU6050 IMU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8092440" y="4242816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yaw for straight rows</a:t>
            </a:r>
            <a:endParaRPr lang="en-US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8092440" y="457200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VL53L0X ToF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8092440" y="4791456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discovery + drift fix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8092440" y="512064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SSD1306 OLED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8092440" y="5340096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on-robot status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5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JUSTIFICATION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Engineering decisions we can defend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440680" cy="1417320"/>
          </a:xfrm>
          <a:prstGeom prst="roundRect">
            <a:avLst>
              <a:gd name="adj" fmla="val 3871"/>
            </a:avLst>
          </a:prstGeom>
          <a:solidFill>
            <a:srgbClr val="F4F6F7"/>
          </a:solidFill>
          <a:ln w="9525">
            <a:solidFill>
              <a:srgbClr val="D5DBD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627632"/>
            <a:ext cx="182880" cy="182880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78992" y="1554480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 motors, not the lab BO motors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1975104"/>
            <a:ext cx="4983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Encoders ARE the localisation. Without tick counting there is no position, no map — the project reduces to a robot that taps randomly.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63640" y="1371600"/>
            <a:ext cx="5440680" cy="1417320"/>
          </a:xfrm>
          <a:prstGeom prst="roundRect">
            <a:avLst>
              <a:gd name="adj" fmla="val 3871"/>
            </a:avLst>
          </a:prstGeom>
          <a:solidFill>
            <a:srgbClr val="F4F6F7"/>
          </a:solidFill>
          <a:ln w="9525">
            <a:solidFill>
              <a:srgbClr val="D5DBD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92240" y="1627632"/>
            <a:ext cx="182880" cy="182880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793992" y="1554480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Differential drive, not 4-wheel skid steer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6519672" y="1975104"/>
            <a:ext cx="4983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Skid steer drags wheels sideways through every turn. That slip corrupts odometry and visibly smears the defect map.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944368"/>
            <a:ext cx="5440680" cy="1417320"/>
          </a:xfrm>
          <a:prstGeom prst="roundRect">
            <a:avLst>
              <a:gd name="adj" fmla="val 3871"/>
            </a:avLst>
          </a:prstGeom>
          <a:solidFill>
            <a:srgbClr val="F4F6F7"/>
          </a:solidFill>
          <a:ln w="9525">
            <a:solidFill>
              <a:srgbClr val="D5DBD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3200400"/>
            <a:ext cx="182880" cy="182880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78992" y="3127248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L298N, not DRV8833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804672" y="3547872"/>
            <a:ext cx="4983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12 V battery exceeds DRV8833’s 10.8 V absolute maximum. L298N is 12 V-rated; its ~2 V drop lands the motors at a safe ~10 V.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63640" y="2944368"/>
            <a:ext cx="5440680" cy="1417320"/>
          </a:xfrm>
          <a:prstGeom prst="roundRect">
            <a:avLst>
              <a:gd name="adj" fmla="val 3871"/>
            </a:avLst>
          </a:prstGeom>
          <a:solidFill>
            <a:srgbClr val="F4F6F7"/>
          </a:solidFill>
          <a:ln w="9525">
            <a:solidFill>
              <a:srgbClr val="D5DBD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92240" y="3200400"/>
            <a:ext cx="182880" cy="182880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793992" y="3127248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I²S microphone, not analog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6519672" y="3547872"/>
            <a:ext cx="4983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analog electret picks up motor PWM switching noise. I²S output is digital at the sensor — the noise never enters the signal path.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517136"/>
            <a:ext cx="5440680" cy="1417320"/>
          </a:xfrm>
          <a:prstGeom prst="roundRect">
            <a:avLst>
              <a:gd name="adj" fmla="val 3871"/>
            </a:avLst>
          </a:prstGeom>
          <a:solidFill>
            <a:srgbClr val="F4F6F7"/>
          </a:solidFill>
          <a:ln w="9525">
            <a:solidFill>
              <a:srgbClr val="D5DBD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4773168"/>
            <a:ext cx="182880" cy="182880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78992" y="4700016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Solenoid, not a servo hammer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804672" y="5120640"/>
            <a:ext cx="4983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solenoid delivers repeatable impulse energy. Consistent strike energy is what makes tap acoustics comparable between cells.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63640" y="4517136"/>
            <a:ext cx="5440680" cy="1417320"/>
          </a:xfrm>
          <a:prstGeom prst="roundRect">
            <a:avLst>
              <a:gd name="adj" fmla="val 3871"/>
            </a:avLst>
          </a:prstGeom>
          <a:solidFill>
            <a:srgbClr val="F4F6F7"/>
          </a:solidFill>
          <a:ln w="9525">
            <a:solidFill>
              <a:srgbClr val="D5DB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92240" y="4773168"/>
            <a:ext cx="182880" cy="182880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793992" y="4700016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1000 µF reservoir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6519672" y="5120640"/>
            <a:ext cx="4983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 A strike transient is served by local capacitance so the 5 V rail never dips and reboots the Pi mid-scan.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6144768"/>
            <a:ext cx="11064240" cy="457200"/>
          </a:xfrm>
          <a:prstGeom prst="roundRect">
            <a:avLst>
              <a:gd name="adj" fmla="val 16000"/>
            </a:avLst>
          </a:prstGeom>
          <a:solidFill>
            <a:srgbClr val="1C2833"/>
          </a:solidFill>
          <a:ln w="12700">
            <a:solidFill>
              <a:srgbClr val="1C283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48640" y="614476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build cost ₹3,000  —  against commercial acoustic NDT instruments at several lakh rupees.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5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IMPLEMENTATION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ROS 2 computation graph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micro-ROS driver node on the ESP32; nine processing nodes on the Pi. Three are managed lifecycle nodes.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2468880" cy="4114800"/>
          </a:xfrm>
          <a:prstGeom prst="roundRect">
            <a:avLst>
              <a:gd name="adj" fmla="val 2222"/>
            </a:avLst>
          </a:prstGeom>
          <a:solidFill>
            <a:srgbClr val="2C3E50"/>
          </a:solidFill>
          <a:ln w="9525">
            <a:solidFill>
              <a:srgbClr val="D5DBD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96596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2860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(micro-ROS)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880360"/>
            <a:ext cx="20116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B9C2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publishes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B9C2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/wheel_ticks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B9C2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/imu/data_raw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B9C2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/tof/range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B9C2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/audio/tap_window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B9C2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/battery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B9C2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subscribes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B9C2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/cmd_vel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B9C2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serves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B9C2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/tapper/fire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429000" y="1783080"/>
            <a:ext cx="3931920" cy="713232"/>
          </a:xfrm>
          <a:prstGeom prst="roundRect">
            <a:avLst>
              <a:gd name="adj" fmla="val 7692"/>
            </a:avLst>
          </a:prstGeom>
          <a:solidFill>
            <a:srgbClr val="F4F6F7"/>
          </a:solidFill>
          <a:ln w="9525">
            <a:solidFill>
              <a:srgbClr val="D5DBD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30168" y="185623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base_controller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3630168" y="21488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ticks → /odom + TF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739128" y="1965960"/>
            <a:ext cx="457200" cy="347472"/>
          </a:xfrm>
          <a:prstGeom prst="roundRect">
            <a:avLst>
              <a:gd name="adj" fmla="val 21053"/>
            </a:avLst>
          </a:prstGeom>
          <a:solidFill>
            <a:srgbClr val="8A5C10"/>
          </a:solidFill>
          <a:ln w="12700">
            <a:solidFill>
              <a:srgbClr val="8A5C1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39128" y="196596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429000" y="2624328"/>
            <a:ext cx="3931920" cy="713232"/>
          </a:xfrm>
          <a:prstGeom prst="roundRect">
            <a:avLst>
              <a:gd name="adj" fmla="val 7692"/>
            </a:avLst>
          </a:prstGeom>
          <a:solidFill>
            <a:srgbClr val="F4F6F7"/>
          </a:solidFill>
          <a:ln w="9525">
            <a:solidFill>
              <a:srgbClr val="D5DBD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630168" y="26974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ekf_localization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3630168" y="29900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odom ⊕ IMU fusion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429000" y="3465576"/>
            <a:ext cx="3931920" cy="713232"/>
          </a:xfrm>
          <a:prstGeom prst="roundRect">
            <a:avLst>
              <a:gd name="adj" fmla="val 7692"/>
            </a:avLst>
          </a:prstGeom>
          <a:solidFill>
            <a:srgbClr val="F4F6F7"/>
          </a:solidFill>
          <a:ln w="9525">
            <a:solidFill>
              <a:srgbClr val="D5DBD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630168" y="353872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boundary_explorer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3630168" y="383133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/discover_area action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429000" y="4306824"/>
            <a:ext cx="3931920" cy="713232"/>
          </a:xfrm>
          <a:prstGeom prst="roundRect">
            <a:avLst>
              <a:gd name="adj" fmla="val 7692"/>
            </a:avLst>
          </a:prstGeom>
          <a:solidFill>
            <a:srgbClr val="F4F6F7"/>
          </a:solidFill>
          <a:ln w="9525">
            <a:solidFill>
              <a:srgbClr val="D5DBD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630168" y="437997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coverage_planner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3630168" y="467258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/scan_area action · FSM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739128" y="4489704"/>
            <a:ext cx="457200" cy="347472"/>
          </a:xfrm>
          <a:prstGeom prst="roundRect">
            <a:avLst>
              <a:gd name="adj" fmla="val 21053"/>
            </a:avLst>
          </a:prstGeom>
          <a:solidFill>
            <a:srgbClr val="8A5C10"/>
          </a:solidFill>
          <a:ln w="12700">
            <a:solidFill>
              <a:srgbClr val="8A5C1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739128" y="4489704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429000" y="5148072"/>
            <a:ext cx="3931920" cy="713232"/>
          </a:xfrm>
          <a:prstGeom prst="roundRect">
            <a:avLst>
              <a:gd name="adj" fmla="val 7692"/>
            </a:avLst>
          </a:prstGeom>
          <a:solidFill>
            <a:srgbClr val="F4F6F7"/>
          </a:solidFill>
          <a:ln w="9525">
            <a:solidFill>
              <a:srgbClr val="D5DBD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630168" y="522122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tap_scheduler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3630168" y="55138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 timing, tap retry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589520" y="1783080"/>
            <a:ext cx="3931920" cy="713232"/>
          </a:xfrm>
          <a:prstGeom prst="roundRect">
            <a:avLst>
              <a:gd name="adj" fmla="val 7692"/>
            </a:avLst>
          </a:prstGeom>
          <a:solidFill>
            <a:srgbClr val="F4F6F7"/>
          </a:solidFill>
          <a:ln w="9525">
            <a:solidFill>
              <a:srgbClr val="D5DBD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790688" y="185623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surface_classifier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7790688" y="21488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DL-2 · surface type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589520" y="2624328"/>
            <a:ext cx="3931920" cy="713232"/>
          </a:xfrm>
          <a:prstGeom prst="roundRect">
            <a:avLst>
              <a:gd name="adj" fmla="val 7692"/>
            </a:avLst>
          </a:prstGeom>
          <a:solidFill>
            <a:srgbClr val="F4F6F7"/>
          </a:solidFill>
          <a:ln w="9525">
            <a:solidFill>
              <a:srgbClr val="D5DBD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790688" y="26974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audio_classifier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7790688" y="29900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DL-1 · MFCC → CNN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0899648" y="2807208"/>
            <a:ext cx="457200" cy="347472"/>
          </a:xfrm>
          <a:prstGeom prst="roundRect">
            <a:avLst>
              <a:gd name="adj" fmla="val 21053"/>
            </a:avLst>
          </a:prstGeom>
          <a:solidFill>
            <a:srgbClr val="8A5C10"/>
          </a:solidFill>
          <a:ln w="12700">
            <a:solidFill>
              <a:srgbClr val="8A5C1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0899648" y="280720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589520" y="3465576"/>
            <a:ext cx="3931920" cy="713232"/>
          </a:xfrm>
          <a:prstGeom prst="roundRect">
            <a:avLst>
              <a:gd name="adj" fmla="val 7692"/>
            </a:avLst>
          </a:prstGeom>
          <a:solidFill>
            <a:srgbClr val="F4F6F7"/>
          </a:solidFill>
          <a:ln w="9525">
            <a:solidFill>
              <a:srgbClr val="D5DBD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790688" y="353872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defect_mapper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7790688" y="383133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the heat map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589520" y="4306824"/>
            <a:ext cx="3931920" cy="713232"/>
          </a:xfrm>
          <a:prstGeom prst="roundRect">
            <a:avLst>
              <a:gd name="adj" fmla="val 7692"/>
            </a:avLst>
          </a:prstGeom>
          <a:solidFill>
            <a:srgbClr val="F4F6F7"/>
          </a:solidFill>
          <a:ln w="9525">
            <a:solidFill>
              <a:srgbClr val="D5DBD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790688" y="437997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defect_refiner</a:t>
            </a:r>
            <a:endParaRPr lang="en-US" sz="1150" dirty="0"/>
          </a:p>
        </p:txBody>
      </p:sp>
      <p:sp>
        <p:nvSpPr>
          <p:cNvPr id="41" name="Text 39"/>
          <p:cNvSpPr txBox="1"/>
          <p:nvPr/>
        </p:nvSpPr>
        <p:spPr>
          <a:xfrm>
            <a:off x="7790688" y="467258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DL-3 · region cleanup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589520" y="5148072"/>
            <a:ext cx="3931920" cy="713232"/>
          </a:xfrm>
          <a:prstGeom prst="roundRect">
            <a:avLst>
              <a:gd name="adj" fmla="val 7692"/>
            </a:avLst>
          </a:prstGeom>
          <a:solidFill>
            <a:srgbClr val="F4F6F7"/>
          </a:solidFill>
          <a:ln w="9525">
            <a:solidFill>
              <a:srgbClr val="D5DBDF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790688" y="522122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report_generator</a:t>
            </a:r>
            <a:endParaRPr lang="en-US" sz="1150" dirty="0"/>
          </a:p>
        </p:txBody>
      </p:sp>
      <p:sp>
        <p:nvSpPr>
          <p:cNvPr id="44" name="Text 42"/>
          <p:cNvSpPr txBox="1"/>
          <p:nvPr/>
        </p:nvSpPr>
        <p:spPr>
          <a:xfrm>
            <a:off x="7790688" y="55138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export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3429000" y="603504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 = managed lifecycle node (configure → activate) for deterministic, scriptable bring-up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5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IMPLEMENTATION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ROS 2 interfaces and engineering depth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474720" cy="3017520"/>
          </a:xfrm>
          <a:prstGeom prst="roundRect">
            <a:avLst>
              <a:gd name="adj" fmla="val 1818"/>
            </a:avLst>
          </a:prstGeom>
          <a:solidFill>
            <a:srgbClr val="F4F6F7"/>
          </a:solidFill>
          <a:ln w="9525">
            <a:solidFill>
              <a:srgbClr val="D5DBD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727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A5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920240"/>
            <a:ext cx="30632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/wheel_ticks  50 Hz</a:t>
            </a:r>
            <a:endParaRPr lang="en-US" sz="10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/imu/data_raw  100 Hz</a:t>
            </a:r>
            <a:endParaRPr lang="en-US" sz="10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/odometry/filtered  50 Hz</a:t>
            </a:r>
            <a:endParaRPr lang="en-US" sz="10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/cmd_vel  20 Hz</a:t>
            </a:r>
            <a:endParaRPr lang="en-US" sz="10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/audio/tap_window  event</a:t>
            </a:r>
            <a:endParaRPr lang="en-US" sz="10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/tap/classification  event</a:t>
            </a:r>
            <a:endParaRPr lang="en-US" sz="10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/defect_grid  1 Hz</a:t>
            </a:r>
            <a:endParaRPr lang="en-US" sz="10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/defect_markers  event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270248" y="1371600"/>
            <a:ext cx="3474720" cy="3017520"/>
          </a:xfrm>
          <a:prstGeom prst="roundRect">
            <a:avLst>
              <a:gd name="adj" fmla="val 1818"/>
            </a:avLst>
          </a:prstGeom>
          <a:solidFill>
            <a:srgbClr val="F4F6F7"/>
          </a:solidFill>
          <a:ln w="9525">
            <a:solidFill>
              <a:srgbClr val="D5DBD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98848" y="15727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A5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498848" y="1920240"/>
            <a:ext cx="30632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/tapper/fire</a:t>
            </a:r>
            <a:endParaRPr lang="en-US" sz="10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/calibrate_surface</a:t>
            </a:r>
            <a:endParaRPr lang="en-US" sz="10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/generate_report</a:t>
            </a:r>
            <a:endParaRPr lang="en-US" sz="10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/reset_odom</a:t>
            </a:r>
            <a:endParaRPr lang="en-US" sz="10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/estop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991856" y="1371600"/>
            <a:ext cx="3474720" cy="3017520"/>
          </a:xfrm>
          <a:prstGeom prst="roundRect">
            <a:avLst>
              <a:gd name="adj" fmla="val 1818"/>
            </a:avLst>
          </a:prstGeom>
          <a:solidFill>
            <a:srgbClr val="F4F6F7"/>
          </a:solidFill>
          <a:ln w="9525">
            <a:solidFill>
              <a:srgbClr val="D5DBD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0456" y="15727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A5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8220456" y="1920240"/>
            <a:ext cx="30632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/discover_area</a:t>
            </a:r>
            <a:endParaRPr lang="en-US" sz="10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goal: max_len, max_wid</a:t>
            </a:r>
            <a:endParaRPr lang="en-US" sz="10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result: L, W</a:t>
            </a:r>
            <a:endParaRPr lang="en-US" sz="10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/scan_area</a:t>
            </a:r>
            <a:endParaRPr lang="en-US" sz="10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feedback: % complete,</a:t>
            </a:r>
            <a:endParaRPr lang="en-US" sz="10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taps done, defects found</a:t>
            </a:r>
            <a:endParaRPr lang="en-US" sz="10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result: return_error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4572000"/>
            <a:ext cx="3474720" cy="1874520"/>
          </a:xfrm>
          <a:prstGeom prst="roundRect">
            <a:avLst>
              <a:gd name="adj" fmla="val 2927"/>
            </a:avLst>
          </a:prstGeom>
          <a:solidFill>
            <a:srgbClr val="1C2833"/>
          </a:solidFill>
          <a:ln w="9525">
            <a:solidFill>
              <a:srgbClr val="D5DBD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475488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QoS differentiation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5102352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streams BEST_EFFORT; audio and classification RELIABLE / KEEP_ALL — losing a tap corrupts the map, losing an IMU packet does not.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270248" y="4572000"/>
            <a:ext cx="3474720" cy="1874520"/>
          </a:xfrm>
          <a:prstGeom prst="roundRect">
            <a:avLst>
              <a:gd name="adj" fmla="val 2927"/>
            </a:avLst>
          </a:prstGeom>
          <a:solidFill>
            <a:srgbClr val="1C2833"/>
          </a:solidFill>
          <a:ln w="9525">
            <a:solidFill>
              <a:srgbClr val="D5DBD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498848" y="475488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 tree correctness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4498848" y="5102352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→ odom → base_link → tapper_link. Taps are stamped at the striker pose, 6 cm ahead of robot centre — otherwise the whole map shifts.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991856" y="4572000"/>
            <a:ext cx="3474720" cy="1874520"/>
          </a:xfrm>
          <a:prstGeom prst="roundRect">
            <a:avLst>
              <a:gd name="adj" fmla="val 2927"/>
            </a:avLst>
          </a:prstGeom>
          <a:solidFill>
            <a:srgbClr val="1C2833"/>
          </a:solidFill>
          <a:ln w="9525">
            <a:solidFill>
              <a:srgbClr val="D5DBD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20456" y="475488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Nav2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8220456" y="5102352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Nav2 assumes obstacle-rich costmap navigation. On a flat scan surface it is unjustifiable overhead; a purpose-built coverage planner matches the problem.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5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IMPLEMENTATION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Deep Learning is used — and why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8961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models, each solving a problem that rules genuinely cannot. Learning is applied to perception, not to motion control.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474720" cy="4160520"/>
          </a:xfrm>
          <a:prstGeom prst="roundRect">
            <a:avLst>
              <a:gd name="adj" fmla="val 1579"/>
            </a:avLst>
          </a:prstGeom>
          <a:solidFill>
            <a:srgbClr val="F4F6F7"/>
          </a:solidFill>
          <a:ln w="9525">
            <a:solidFill>
              <a:srgbClr val="D5DBD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96596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5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DL-1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063240" y="1965960"/>
            <a:ext cx="777240" cy="292608"/>
          </a:xfrm>
          <a:prstGeom prst="roundRect">
            <a:avLst>
              <a:gd name="adj" fmla="val 25000"/>
            </a:avLst>
          </a:prstGeom>
          <a:solidFill>
            <a:srgbClr val="8A5C10"/>
          </a:solidFill>
          <a:ln w="12700">
            <a:solidFill>
              <a:srgbClr val="8A5C1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063240" y="196596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304288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Acoustic Classifier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777240" y="2926080"/>
            <a:ext cx="3017520" cy="960120"/>
          </a:xfrm>
          <a:prstGeom prst="roundRect">
            <a:avLst>
              <a:gd name="adj" fmla="val 4762"/>
            </a:avLst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96112" y="2999232"/>
            <a:ext cx="2834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88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 100 ms window → MFCC (13 × 9)</a:t>
            </a:r>
            <a:endParaRPr lang="en-US" sz="880" dirty="0"/>
          </a:p>
          <a:p>
            <a:pPr indent="0" marL="0">
              <a:lnSpc>
                <a:spcPts val="1250"/>
              </a:lnSpc>
              <a:buNone/>
            </a:pPr>
            <a:r>
              <a:rPr lang="en-US" sz="88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  small CNN, &lt;100 k params, ~2 ms on Pi</a:t>
            </a:r>
            <a:endParaRPr lang="en-US" sz="880" dirty="0"/>
          </a:p>
          <a:p>
            <a:pPr indent="0" marL="0">
              <a:lnSpc>
                <a:spcPts val="1250"/>
              </a:lnSpc>
              <a:buNone/>
            </a:pPr>
            <a:r>
              <a:rPr lang="en-US" sz="88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  bonded / debonded + confidence</a:t>
            </a:r>
            <a:endParaRPr lang="en-US" sz="88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4005072"/>
            <a:ext cx="30632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threshold cannot separate the classes — the difference lives in the joint pattern of spectral centroid, decay envelope and resonance peaks, and it shifts with tile type and thickness.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270248" y="1783080"/>
            <a:ext cx="3474720" cy="4160520"/>
          </a:xfrm>
          <a:prstGeom prst="roundRect">
            <a:avLst>
              <a:gd name="adj" fmla="val 1579"/>
            </a:avLst>
          </a:prstGeom>
          <a:solidFill>
            <a:srgbClr val="F4F6F7"/>
          </a:solidFill>
          <a:ln w="9525">
            <a:solidFill>
              <a:srgbClr val="D5DBD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498848" y="196596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5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DL-2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784848" y="1965960"/>
            <a:ext cx="777240" cy="292608"/>
          </a:xfrm>
          <a:prstGeom prst="roundRect">
            <a:avLst>
              <a:gd name="adj" fmla="val 25000"/>
            </a:avLst>
          </a:prstGeom>
          <a:solidFill>
            <a:srgbClr val="5A6A75"/>
          </a:solidFill>
          <a:ln w="12700">
            <a:solidFill>
              <a:srgbClr val="5A6A7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84848" y="196596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498848" y="2304288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Type Classifier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4498848" y="2926080"/>
            <a:ext cx="3017520" cy="960120"/>
          </a:xfrm>
          <a:prstGeom prst="roundRect">
            <a:avLst>
              <a:gd name="adj" fmla="val 4762"/>
            </a:avLst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617720" y="2999232"/>
            <a:ext cx="2834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88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 10 calibration taps</a:t>
            </a:r>
            <a:endParaRPr lang="en-US" sz="880" dirty="0"/>
          </a:p>
          <a:p>
            <a:pPr indent="0" marL="0">
              <a:lnSpc>
                <a:spcPts val="1250"/>
              </a:lnSpc>
              <a:buNone/>
            </a:pPr>
            <a:r>
              <a:rPr lang="en-US" sz="88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  lightweight classifier on MFCC statistics</a:t>
            </a:r>
            <a:endParaRPr lang="en-US" sz="880" dirty="0"/>
          </a:p>
          <a:p>
            <a:pPr indent="0" marL="0">
              <a:lnSpc>
                <a:spcPts val="1250"/>
              </a:lnSpc>
              <a:buNone/>
            </a:pPr>
            <a:r>
              <a:rPr lang="en-US" sz="88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  ceramic / concrete / marble / plaster</a:t>
            </a:r>
            <a:endParaRPr lang="en-US" sz="880" dirty="0"/>
          </a:p>
        </p:txBody>
      </p:sp>
      <p:sp>
        <p:nvSpPr>
          <p:cNvPr id="20" name="Text 18"/>
          <p:cNvSpPr txBox="1"/>
          <p:nvPr/>
        </p:nvSpPr>
        <p:spPr>
          <a:xfrm>
            <a:off x="4498848" y="4005072"/>
            <a:ext cx="30632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trained on ceramic tile fails on concrete. DL-2 detects the surface during calibration and loads matching classifier weights — this is what makes TapMap deployable beyond one panel.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991856" y="1783080"/>
            <a:ext cx="3474720" cy="4160520"/>
          </a:xfrm>
          <a:prstGeom prst="roundRect">
            <a:avLst>
              <a:gd name="adj" fmla="val 1579"/>
            </a:avLst>
          </a:prstGeom>
          <a:solidFill>
            <a:srgbClr val="F4F6F7"/>
          </a:solidFill>
          <a:ln w="9525">
            <a:solidFill>
              <a:srgbClr val="D5DBD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20456" y="196596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5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DL-3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0506456" y="1965960"/>
            <a:ext cx="777240" cy="292608"/>
          </a:xfrm>
          <a:prstGeom prst="roundRect">
            <a:avLst>
              <a:gd name="adj" fmla="val 25000"/>
            </a:avLst>
          </a:prstGeom>
          <a:solidFill>
            <a:srgbClr val="5A6A75"/>
          </a:solidFill>
          <a:ln w="12700">
            <a:solidFill>
              <a:srgbClr val="5A6A7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506456" y="196596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8220456" y="2304288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Region Refiner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8220456" y="2926080"/>
            <a:ext cx="3017520" cy="960120"/>
          </a:xfrm>
          <a:prstGeom prst="roundRect">
            <a:avLst>
              <a:gd name="adj" fmla="val 4762"/>
            </a:avLst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339328" y="2999232"/>
            <a:ext cx="2834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88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 raw defect occupancy grid</a:t>
            </a:r>
            <a:endParaRPr lang="en-US" sz="880" dirty="0"/>
          </a:p>
          <a:p>
            <a:pPr indent="0" marL="0">
              <a:lnSpc>
                <a:spcPts val="1250"/>
              </a:lnSpc>
              <a:buNone/>
            </a:pPr>
            <a:r>
              <a:rPr lang="en-US" sz="88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  compact U-Net-lite over the grid</a:t>
            </a:r>
            <a:endParaRPr lang="en-US" sz="880" dirty="0"/>
          </a:p>
          <a:p>
            <a:pPr indent="0" marL="0">
              <a:lnSpc>
                <a:spcPts val="1250"/>
              </a:lnSpc>
              <a:buNone/>
            </a:pPr>
            <a:r>
              <a:rPr lang="en-US" sz="88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  contiguous defect regions + area</a:t>
            </a:r>
            <a:endParaRPr lang="en-US" sz="880" dirty="0"/>
          </a:p>
        </p:txBody>
      </p:sp>
      <p:sp>
        <p:nvSpPr>
          <p:cNvPr id="28" name="Text 26"/>
          <p:cNvSpPr txBox="1"/>
          <p:nvPr/>
        </p:nvSpPr>
        <p:spPr>
          <a:xfrm>
            <a:off x="8220456" y="4005072"/>
            <a:ext cx="30632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debonding is spatially contiguous. One red cell surrounded by eight green cells is noise. DL-3 removes isolated false positives and merges scattered hits into coherent regions.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" y="6080760"/>
            <a:ext cx="11064240" cy="548640"/>
          </a:xfrm>
          <a:prstGeom prst="roundRect">
            <a:avLst>
              <a:gd name="adj" fmla="val 13333"/>
            </a:avLst>
          </a:prstGeom>
          <a:solidFill>
            <a:srgbClr val="F4F6F7"/>
          </a:solidFill>
          <a:ln w="12700">
            <a:solidFill>
              <a:srgbClr val="D5DBD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48640" y="60807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net: a spectral-centroid + decay-time rule classifier ships alongside DL-1 as a fallback — and doubles as the ablation baseline for the paper.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5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OUTPUT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defect heat map is built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399032"/>
            <a:ext cx="365760" cy="365760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13990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3441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initialised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16459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5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nav_msgs/OccupancyGrid is created over the discovered area — 5 cm cells, origin at the start corner, every cell = −1 (unknown, grey).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66928" y="2194560"/>
            <a:ext cx="365760" cy="365760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2194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213969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Pose resolved at the striker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44144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5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each classification the mapper does a TF lookup at tapper_link, not base_link. The striker sits 6 cm ahead of centre; using robot centre would shift the entire map.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66928" y="2990088"/>
            <a:ext cx="365760" cy="365760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6928" y="2990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293522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Confidence-weighted write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3236976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5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→ cell = 0.  hollow → cell = round(100 × confidence). The map encodes certainty, not a binary yes/no. Repeat taps are combined as a running average.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3785616"/>
            <a:ext cx="365760" cy="365760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6928" y="37856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373075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visual layers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4032504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5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/defect_grid renders as the heat map; /defect_markers drops a green or red dot at each individual tap point so the exact strike locations stay visible.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66928" y="4581144"/>
            <a:ext cx="365760" cy="365760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66928" y="45811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1097280" y="45262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DL-3 refinement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97280" y="4828032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5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region refiner smooths isolated false positives and merges scattered hits into contiguous defect regions with area estimates.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66928" y="5376672"/>
            <a:ext cx="365760" cy="365760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66928" y="5376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1097280" y="53218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097280" y="562356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5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report_generator renders the final grid to PDF with the tap table, spectrograms of flagged cells, total defect area and the return-home error.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452360" y="1325880"/>
            <a:ext cx="4160520" cy="3200400"/>
          </a:xfrm>
          <a:prstGeom prst="roundRect">
            <a:avLst>
              <a:gd name="adj" fmla="val 1714"/>
            </a:avLst>
          </a:prstGeom>
          <a:solidFill>
            <a:srgbClr val="1C2833"/>
          </a:solidFill>
          <a:ln w="9525">
            <a:solidFill>
              <a:srgbClr val="D5DBD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726680" y="153619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 RVIZ 2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138160" y="1938528"/>
            <a:ext cx="438912" cy="347472"/>
          </a:xfrm>
          <a:prstGeom prst="rect">
            <a:avLst/>
          </a:prstGeom>
          <a:solidFill>
            <a:srgbClr val="2E7D5B"/>
          </a:solidFill>
          <a:ln w="9525">
            <a:solidFill>
              <a:srgbClr val="1C28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613648" y="1938528"/>
            <a:ext cx="438912" cy="347472"/>
          </a:xfrm>
          <a:prstGeom prst="rect">
            <a:avLst/>
          </a:prstGeom>
          <a:solidFill>
            <a:srgbClr val="2E7D5B"/>
          </a:solidFill>
          <a:ln w="9525">
            <a:solidFill>
              <a:srgbClr val="1C283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089136" y="1938528"/>
            <a:ext cx="438912" cy="347472"/>
          </a:xfrm>
          <a:prstGeom prst="rect">
            <a:avLst/>
          </a:prstGeom>
          <a:solidFill>
            <a:srgbClr val="2E7D5B"/>
          </a:solidFill>
          <a:ln w="9525">
            <a:solidFill>
              <a:srgbClr val="1C283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564624" y="1938528"/>
            <a:ext cx="438912" cy="347472"/>
          </a:xfrm>
          <a:prstGeom prst="rect">
            <a:avLst/>
          </a:prstGeom>
          <a:solidFill>
            <a:srgbClr val="2E7D5B"/>
          </a:solidFill>
          <a:ln w="9525">
            <a:solidFill>
              <a:srgbClr val="1C283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040112" y="1938528"/>
            <a:ext cx="438912" cy="347472"/>
          </a:xfrm>
          <a:prstGeom prst="rect">
            <a:avLst/>
          </a:prstGeom>
          <a:solidFill>
            <a:srgbClr val="2E7D5B"/>
          </a:solidFill>
          <a:ln w="9525">
            <a:solidFill>
              <a:srgbClr val="1C283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515600" y="1938528"/>
            <a:ext cx="438912" cy="347472"/>
          </a:xfrm>
          <a:prstGeom prst="rect">
            <a:avLst/>
          </a:prstGeom>
          <a:solidFill>
            <a:srgbClr val="2E7D5B"/>
          </a:solidFill>
          <a:ln w="9525">
            <a:solidFill>
              <a:srgbClr val="1C283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138160" y="2322576"/>
            <a:ext cx="438912" cy="347472"/>
          </a:xfrm>
          <a:prstGeom prst="rect">
            <a:avLst/>
          </a:prstGeom>
          <a:solidFill>
            <a:srgbClr val="2E7D5B"/>
          </a:solidFill>
          <a:ln w="9525">
            <a:solidFill>
              <a:srgbClr val="1C28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613648" y="2322576"/>
            <a:ext cx="438912" cy="347472"/>
          </a:xfrm>
          <a:prstGeom prst="rect">
            <a:avLst/>
          </a:prstGeom>
          <a:solidFill>
            <a:srgbClr val="2E7D5B"/>
          </a:solidFill>
          <a:ln w="9525">
            <a:solidFill>
              <a:srgbClr val="1C283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089136" y="2322576"/>
            <a:ext cx="438912" cy="347472"/>
          </a:xfrm>
          <a:prstGeom prst="rect">
            <a:avLst/>
          </a:prstGeom>
          <a:solidFill>
            <a:srgbClr val="C9832B"/>
          </a:solidFill>
          <a:ln w="9525">
            <a:solidFill>
              <a:srgbClr val="1C283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564624" y="2322576"/>
            <a:ext cx="438912" cy="347472"/>
          </a:xfrm>
          <a:prstGeom prst="rect">
            <a:avLst/>
          </a:prstGeom>
          <a:solidFill>
            <a:srgbClr val="C9832B"/>
          </a:solidFill>
          <a:ln w="9525">
            <a:solidFill>
              <a:srgbClr val="1C283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040112" y="2322576"/>
            <a:ext cx="438912" cy="347472"/>
          </a:xfrm>
          <a:prstGeom prst="rect">
            <a:avLst/>
          </a:prstGeom>
          <a:solidFill>
            <a:srgbClr val="2E7D5B"/>
          </a:solidFill>
          <a:ln w="9525">
            <a:solidFill>
              <a:srgbClr val="1C283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515600" y="2322576"/>
            <a:ext cx="438912" cy="347472"/>
          </a:xfrm>
          <a:prstGeom prst="rect">
            <a:avLst/>
          </a:prstGeom>
          <a:solidFill>
            <a:srgbClr val="2E7D5B"/>
          </a:solidFill>
          <a:ln w="9525">
            <a:solidFill>
              <a:srgbClr val="1C283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138160" y="2706624"/>
            <a:ext cx="438912" cy="347472"/>
          </a:xfrm>
          <a:prstGeom prst="rect">
            <a:avLst/>
          </a:prstGeom>
          <a:solidFill>
            <a:srgbClr val="2E7D5B"/>
          </a:solidFill>
          <a:ln w="9525">
            <a:solidFill>
              <a:srgbClr val="1C283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613648" y="2706624"/>
            <a:ext cx="438912" cy="347472"/>
          </a:xfrm>
          <a:prstGeom prst="rect">
            <a:avLst/>
          </a:prstGeom>
          <a:solidFill>
            <a:srgbClr val="C9832B"/>
          </a:solidFill>
          <a:ln w="9525">
            <a:solidFill>
              <a:srgbClr val="1C283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089136" y="2706624"/>
            <a:ext cx="438912" cy="347472"/>
          </a:xfrm>
          <a:prstGeom prst="rect">
            <a:avLst/>
          </a:prstGeom>
          <a:solidFill>
            <a:srgbClr val="C0392B"/>
          </a:solidFill>
          <a:ln w="9525">
            <a:solidFill>
              <a:srgbClr val="1C283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564624" y="2706624"/>
            <a:ext cx="438912" cy="347472"/>
          </a:xfrm>
          <a:prstGeom prst="rect">
            <a:avLst/>
          </a:prstGeom>
          <a:solidFill>
            <a:srgbClr val="C0392B"/>
          </a:solidFill>
          <a:ln w="9525">
            <a:solidFill>
              <a:srgbClr val="1C283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0040112" y="2706624"/>
            <a:ext cx="438912" cy="347472"/>
          </a:xfrm>
          <a:prstGeom prst="rect">
            <a:avLst/>
          </a:prstGeom>
          <a:solidFill>
            <a:srgbClr val="C9832B"/>
          </a:solidFill>
          <a:ln w="9525">
            <a:solidFill>
              <a:srgbClr val="1C283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0515600" y="2706624"/>
            <a:ext cx="438912" cy="347472"/>
          </a:xfrm>
          <a:prstGeom prst="rect">
            <a:avLst/>
          </a:prstGeom>
          <a:solidFill>
            <a:srgbClr val="2E7D5B"/>
          </a:solidFill>
          <a:ln w="9525">
            <a:solidFill>
              <a:srgbClr val="1C283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138160" y="3090672"/>
            <a:ext cx="438912" cy="347472"/>
          </a:xfrm>
          <a:prstGeom prst="rect">
            <a:avLst/>
          </a:prstGeom>
          <a:solidFill>
            <a:srgbClr val="2E7D5B"/>
          </a:solidFill>
          <a:ln w="9525">
            <a:solidFill>
              <a:srgbClr val="1C2833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613648" y="3090672"/>
            <a:ext cx="438912" cy="347472"/>
          </a:xfrm>
          <a:prstGeom prst="rect">
            <a:avLst/>
          </a:prstGeom>
          <a:solidFill>
            <a:srgbClr val="C9832B"/>
          </a:solidFill>
          <a:ln w="9525">
            <a:solidFill>
              <a:srgbClr val="1C283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089136" y="3090672"/>
            <a:ext cx="438912" cy="347472"/>
          </a:xfrm>
          <a:prstGeom prst="rect">
            <a:avLst/>
          </a:prstGeom>
          <a:solidFill>
            <a:srgbClr val="C0392B"/>
          </a:solidFill>
          <a:ln w="9525">
            <a:solidFill>
              <a:srgbClr val="1C2833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564624" y="3090672"/>
            <a:ext cx="438912" cy="347472"/>
          </a:xfrm>
          <a:prstGeom prst="rect">
            <a:avLst/>
          </a:prstGeom>
          <a:solidFill>
            <a:srgbClr val="C0392B"/>
          </a:solidFill>
          <a:ln w="9525">
            <a:solidFill>
              <a:srgbClr val="1C2833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040112" y="3090672"/>
            <a:ext cx="438912" cy="347472"/>
          </a:xfrm>
          <a:prstGeom prst="rect">
            <a:avLst/>
          </a:prstGeom>
          <a:solidFill>
            <a:srgbClr val="C9832B"/>
          </a:solidFill>
          <a:ln w="9525">
            <a:solidFill>
              <a:srgbClr val="1C2833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0515600" y="3090672"/>
            <a:ext cx="438912" cy="347472"/>
          </a:xfrm>
          <a:prstGeom prst="rect">
            <a:avLst/>
          </a:prstGeom>
          <a:solidFill>
            <a:srgbClr val="2E7D5B"/>
          </a:solidFill>
          <a:ln w="9525">
            <a:solidFill>
              <a:srgbClr val="1C2833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138160" y="3474720"/>
            <a:ext cx="438912" cy="347472"/>
          </a:xfrm>
          <a:prstGeom prst="rect">
            <a:avLst/>
          </a:prstGeom>
          <a:solidFill>
            <a:srgbClr val="2E7D5B"/>
          </a:solidFill>
          <a:ln w="9525">
            <a:solidFill>
              <a:srgbClr val="1C2833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613648" y="3474720"/>
            <a:ext cx="438912" cy="347472"/>
          </a:xfrm>
          <a:prstGeom prst="rect">
            <a:avLst/>
          </a:prstGeom>
          <a:solidFill>
            <a:srgbClr val="2E7D5B"/>
          </a:solidFill>
          <a:ln w="9525">
            <a:solidFill>
              <a:srgbClr val="1C2833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089136" y="3474720"/>
            <a:ext cx="438912" cy="347472"/>
          </a:xfrm>
          <a:prstGeom prst="rect">
            <a:avLst/>
          </a:prstGeom>
          <a:solidFill>
            <a:srgbClr val="C9832B"/>
          </a:solidFill>
          <a:ln w="9525">
            <a:solidFill>
              <a:srgbClr val="1C2833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564624" y="3474720"/>
            <a:ext cx="438912" cy="347472"/>
          </a:xfrm>
          <a:prstGeom prst="rect">
            <a:avLst/>
          </a:prstGeom>
          <a:solidFill>
            <a:srgbClr val="C9832B"/>
          </a:solidFill>
          <a:ln w="9525">
            <a:solidFill>
              <a:srgbClr val="1C2833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0040112" y="3474720"/>
            <a:ext cx="438912" cy="347472"/>
          </a:xfrm>
          <a:prstGeom prst="rect">
            <a:avLst/>
          </a:prstGeom>
          <a:solidFill>
            <a:srgbClr val="2E7D5B"/>
          </a:solidFill>
          <a:ln w="9525">
            <a:solidFill>
              <a:srgbClr val="1C2833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0515600" y="3474720"/>
            <a:ext cx="438912" cy="347472"/>
          </a:xfrm>
          <a:prstGeom prst="rect">
            <a:avLst/>
          </a:prstGeom>
          <a:solidFill>
            <a:srgbClr val="2E7D5B"/>
          </a:solidFill>
          <a:ln w="9525">
            <a:solidFill>
              <a:srgbClr val="1C2833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138160" y="3858768"/>
            <a:ext cx="438912" cy="347472"/>
          </a:xfrm>
          <a:prstGeom prst="rect">
            <a:avLst/>
          </a:prstGeom>
          <a:solidFill>
            <a:srgbClr val="2E7D5B"/>
          </a:solidFill>
          <a:ln w="9525">
            <a:solidFill>
              <a:srgbClr val="1C2833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613648" y="3858768"/>
            <a:ext cx="438912" cy="347472"/>
          </a:xfrm>
          <a:prstGeom prst="rect">
            <a:avLst/>
          </a:prstGeom>
          <a:solidFill>
            <a:srgbClr val="2E7D5B"/>
          </a:solidFill>
          <a:ln w="9525">
            <a:solidFill>
              <a:srgbClr val="1C2833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9089136" y="3858768"/>
            <a:ext cx="438912" cy="347472"/>
          </a:xfrm>
          <a:prstGeom prst="rect">
            <a:avLst/>
          </a:prstGeom>
          <a:solidFill>
            <a:srgbClr val="2E7D5B"/>
          </a:solidFill>
          <a:ln w="9525">
            <a:solidFill>
              <a:srgbClr val="1C2833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9564624" y="3858768"/>
            <a:ext cx="438912" cy="347472"/>
          </a:xfrm>
          <a:prstGeom prst="rect">
            <a:avLst/>
          </a:prstGeom>
          <a:solidFill>
            <a:srgbClr val="2E7D5B"/>
          </a:solidFill>
          <a:ln w="9525">
            <a:solidFill>
              <a:srgbClr val="1C2833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0040112" y="3858768"/>
            <a:ext cx="438912" cy="347472"/>
          </a:xfrm>
          <a:prstGeom prst="rect">
            <a:avLst/>
          </a:prstGeom>
          <a:solidFill>
            <a:srgbClr val="2E7D5B"/>
          </a:solidFill>
          <a:ln w="9525">
            <a:solidFill>
              <a:srgbClr val="1C2833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0515600" y="3858768"/>
            <a:ext cx="438912" cy="347472"/>
          </a:xfrm>
          <a:prstGeom prst="rect">
            <a:avLst/>
          </a:prstGeom>
          <a:solidFill>
            <a:srgbClr val="2E7D5B"/>
          </a:solidFill>
          <a:ln w="9525">
            <a:solidFill>
              <a:srgbClr val="1C2833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7726680" y="416052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9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= bonded    ·    red = debonded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7452360" y="4709160"/>
            <a:ext cx="4160520" cy="1508760"/>
          </a:xfrm>
          <a:prstGeom prst="roundRect">
            <a:avLst>
              <a:gd name="adj" fmla="val 3636"/>
            </a:avLst>
          </a:prstGeom>
          <a:solidFill>
            <a:srgbClr val="F4F6F7"/>
          </a:solidFill>
          <a:ln w="9525">
            <a:solidFill>
              <a:srgbClr val="D5DBDF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7726680" y="48920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measured, not interpolated</a:t>
            </a:r>
            <a:endParaRPr lang="en-US" sz="1250" dirty="0"/>
          </a:p>
        </p:txBody>
      </p:sp>
      <p:sp>
        <p:nvSpPr>
          <p:cNvPr id="69" name="Text 67"/>
          <p:cNvSpPr txBox="1"/>
          <p:nvPr/>
        </p:nvSpPr>
        <p:spPr>
          <a:xfrm>
            <a:off x="7726680" y="5193792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5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coloured cell was physically struck at that coordinate. Nothing between samples is estimated or diffused — a stronger claim than an interpolated field map.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5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STATUS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are today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6949440" cy="1051560"/>
          </a:xfrm>
          <a:prstGeom prst="roundRect">
            <a:avLst>
              <a:gd name="adj" fmla="val 5217"/>
            </a:avLst>
          </a:prstGeom>
          <a:solidFill>
            <a:srgbClr val="F4F6F7"/>
          </a:solidFill>
          <a:ln w="9525">
            <a:solidFill>
              <a:srgbClr val="D5DBD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554480"/>
            <a:ext cx="274320" cy="274320"/>
          </a:xfrm>
          <a:prstGeom prst="ellipse">
            <a:avLst/>
          </a:prstGeom>
          <a:solidFill>
            <a:srgbClr val="1E7A46"/>
          </a:solidFill>
          <a:ln w="12700">
            <a:solidFill>
              <a:srgbClr val="1E7A4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554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499616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2 Jazzy running on the robot’s onboard Pi 4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828800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5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24.04 Server 64-bit flashed, ROS 2 Jazzy installed, headless over SSH. The full tapmap_ws workspace builds and runs on the robot itself — not on a laptop.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542032"/>
            <a:ext cx="6949440" cy="1051560"/>
          </a:xfrm>
          <a:prstGeom prst="roundRect">
            <a:avLst>
              <a:gd name="adj" fmla="val 5217"/>
            </a:avLst>
          </a:prstGeom>
          <a:solidFill>
            <a:srgbClr val="F4F6F7"/>
          </a:solidFill>
          <a:ln w="9525">
            <a:solidFill>
              <a:srgbClr val="D5DBD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724912"/>
            <a:ext cx="274320" cy="274320"/>
          </a:xfrm>
          <a:prstGeom prst="ellipse">
            <a:avLst/>
          </a:prstGeom>
          <a:solidFill>
            <a:srgbClr val="1E7A46"/>
          </a:solidFill>
          <a:ln w="12700">
            <a:solidFill>
              <a:srgbClr val="1E7A4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27249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2670048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autonomous scan verified end to end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2999232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5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187 tap points over 0.8 x 0.5 m at 5 cm spacing. 16 defect cells correctly localised over a hollow region the robot was never told about. Returned to origin with 1.47 cm error.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712464"/>
            <a:ext cx="6949440" cy="1051560"/>
          </a:xfrm>
          <a:prstGeom prst="roundRect">
            <a:avLst>
              <a:gd name="adj" fmla="val 5217"/>
            </a:avLst>
          </a:prstGeom>
          <a:solidFill>
            <a:srgbClr val="F4F6F7"/>
          </a:solidFill>
          <a:ln w="9525">
            <a:solidFill>
              <a:srgbClr val="D5DBD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895344"/>
            <a:ext cx="274320" cy="274320"/>
          </a:xfrm>
          <a:prstGeom prst="ellipse">
            <a:avLst/>
          </a:prstGeom>
          <a:solidFill>
            <a:srgbClr val="1E7A46"/>
          </a:solidFill>
          <a:ln w="12700">
            <a:solidFill>
              <a:srgbClr val="1E7A4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38953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3840480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defect heat map rendering in RViz 2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4169664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5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markers on bonded taps, red block over the debonded region, occupancy grid filling in real time as the rover rasters.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4882896"/>
            <a:ext cx="6949440" cy="1051560"/>
          </a:xfrm>
          <a:prstGeom prst="roundRect">
            <a:avLst>
              <a:gd name="adj" fmla="val 5217"/>
            </a:avLst>
          </a:prstGeom>
          <a:solidFill>
            <a:srgbClr val="F4F6F7"/>
          </a:solidFill>
          <a:ln w="9525">
            <a:solidFill>
              <a:srgbClr val="D5DBD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5065776"/>
            <a:ext cx="274320" cy="274320"/>
          </a:xfrm>
          <a:prstGeom prst="ellipse">
            <a:avLst/>
          </a:prstGeom>
          <a:solidFill>
            <a:srgbClr val="1E7A46"/>
          </a:solidFill>
          <a:ln w="12700">
            <a:solidFill>
              <a:srgbClr val="1E7A4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50657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5010912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procured; assembly underway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188720" y="5340096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5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4, ESP32, MPU6050, VL53L0X, OLED, L298N and chassis from the lab. Encoder motors, solenoid, INMP441, buck converter and wiring received. Firmware toolchain in setup.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818120" y="1371600"/>
            <a:ext cx="3794760" cy="4507992"/>
          </a:xfrm>
          <a:prstGeom prst="roundRect">
            <a:avLst>
              <a:gd name="adj" fmla="val 1446"/>
            </a:avLst>
          </a:prstGeom>
          <a:solidFill>
            <a:srgbClr val="1C2833"/>
          </a:solidFill>
          <a:ln w="9525">
            <a:solidFill>
              <a:srgbClr val="D5DBD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092440" y="157276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8092440" y="196596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8778240" y="19659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flashed · ROS 2 Jazzy · tapmap_ws running onboard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8092440" y="245059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8778240" y="245059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scan · heat map · 1.47 cm return error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8092440" y="293522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8778240" y="2935224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Chassis assembly · power tree · XL4015 set to 5 V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8092440" y="341985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8778240" y="3419856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micro-ROS firmware · encoder ticks · motor PID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8092440" y="390448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8778240" y="390448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Odometry calibration · gate: 2 m out-and-back &lt; 2 cm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8092440" y="438912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3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8778240" y="43891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Tapper · gated I²S capture · record 600+ taps · DL-1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8092440" y="487375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4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8778240" y="487375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discovery · DL-2 · DL-3 · PDF report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8092440" y="535838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5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8778240" y="5358384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Hardening · 5 clean scans · demo · paper draft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48640" y="6172200"/>
            <a:ext cx="11064240" cy="457200"/>
          </a:xfrm>
          <a:prstGeom prst="roundRect">
            <a:avLst>
              <a:gd name="adj" fmla="val 16000"/>
            </a:avLst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48640" y="6172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is ahead of hardware by design — when the parts land we plug them into a stack that already works.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5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OUTPUT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Verified result — a defect it was never told about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autonomous scan on the onboard Raspberry Pi. The rover covered the area, classified every tap, and localised a hollow region that exists only in the simulated panel — it had no prior knowledge of its position.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6035040" cy="841248"/>
          </a:xfrm>
          <a:prstGeom prst="roundRect">
            <a:avLst>
              <a:gd name="adj" fmla="val 6522"/>
            </a:avLst>
          </a:prstGeom>
          <a:solidFill>
            <a:srgbClr val="F4F6F7"/>
          </a:solidFill>
          <a:ln w="9525">
            <a:solidFill>
              <a:srgbClr val="D5DBD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32257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A5C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187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2697480" y="234086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POINTS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2697480" y="2615184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 x 0.5 m area at 5 cm grid spacing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3154680"/>
            <a:ext cx="6035040" cy="841248"/>
          </a:xfrm>
          <a:prstGeom prst="roundRect">
            <a:avLst>
              <a:gd name="adj" fmla="val 6522"/>
            </a:avLst>
          </a:prstGeom>
          <a:solidFill>
            <a:srgbClr val="F4F6F7"/>
          </a:solidFill>
          <a:ln w="9525">
            <a:solidFill>
              <a:srgbClr val="D5DBD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328269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A5C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2697480" y="330098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CELLS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2697480" y="3575304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spatially matching the planted hollow region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4114800"/>
            <a:ext cx="6035040" cy="841248"/>
          </a:xfrm>
          <a:prstGeom prst="roundRect">
            <a:avLst>
              <a:gd name="adj" fmla="val 6522"/>
            </a:avLst>
          </a:prstGeom>
          <a:solidFill>
            <a:srgbClr val="F4F6F7"/>
          </a:solidFill>
          <a:ln w="9525">
            <a:solidFill>
              <a:srgbClr val="D5DBD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424281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A5C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1.47 cm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2697480" y="426110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ERROR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2697480" y="4535424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error after the full 187-tap scan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5074920"/>
            <a:ext cx="6035040" cy="841248"/>
          </a:xfrm>
          <a:prstGeom prst="roundRect">
            <a:avLst>
              <a:gd name="adj" fmla="val 6522"/>
            </a:avLst>
          </a:prstGeom>
          <a:solidFill>
            <a:srgbClr val="F4F6F7"/>
          </a:solidFill>
          <a:ln w="9525">
            <a:solidFill>
              <a:srgbClr val="D5DBD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520293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A5C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0.008 / 0.997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2697480" y="522122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SEPARATION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2697480" y="5495544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band-energy ratio: bonded vs debonded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858000" y="1298448"/>
            <a:ext cx="4754880" cy="4937760"/>
          </a:xfrm>
          <a:prstGeom prst="roundRect">
            <a:avLst>
              <a:gd name="adj" fmla="val 1154"/>
            </a:avLst>
          </a:prstGeom>
          <a:solidFill>
            <a:srgbClr val="1C2833"/>
          </a:solidFill>
          <a:ln w="9525">
            <a:solidFill>
              <a:srgbClr val="D5DBD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132320" y="150876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HEAT MAP — RVIZ 2</a:t>
            </a:r>
            <a:endParaRPr lang="en-US" sz="1000" dirty="0"/>
          </a:p>
        </p:txBody>
      </p:sp>
      <p:pic>
        <p:nvPicPr>
          <p:cNvPr id="23" name="Image 0" descr="/home/claude/heatmap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0" y="1874520"/>
            <a:ext cx="3931920" cy="3566160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7132320" y="555955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9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= bonded tap   ·   Red = debonded tap</a:t>
            </a:r>
            <a:endParaRPr lang="en-US" sz="1050" dirty="0"/>
          </a:p>
        </p:txBody>
      </p:sp>
      <p:sp>
        <p:nvSpPr>
          <p:cNvPr id="25" name="Text 22"/>
          <p:cNvSpPr txBox="1"/>
          <p:nvPr/>
        </p:nvSpPr>
        <p:spPr>
          <a:xfrm>
            <a:off x="7132320" y="58064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coloured cell was physically struck at that coordinate — nothing is interpolated.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5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stands apart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440680" cy="1463040"/>
          </a:xfrm>
          <a:prstGeom prst="roundRect">
            <a:avLst>
              <a:gd name="adj" fmla="val 3750"/>
            </a:avLst>
          </a:prstGeom>
          <a:solidFill>
            <a:srgbClr val="F4F6F7"/>
          </a:solidFill>
          <a:ln w="9525">
            <a:solidFill>
              <a:srgbClr val="D5DBD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609344"/>
            <a:ext cx="310896" cy="310896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6093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207008" y="155448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low-cost robotic percussion sounding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011680"/>
            <a:ext cx="4983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5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tap testing is accepted NDT practice. Automating it with autonomous coverage and spatial mapping has no student-project precedent and almost no low-cost precedent at all.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63640" y="1371600"/>
            <a:ext cx="5440680" cy="1463040"/>
          </a:xfrm>
          <a:prstGeom prst="roundRect">
            <a:avLst>
              <a:gd name="adj" fmla="val 3750"/>
            </a:avLst>
          </a:prstGeom>
          <a:solidFill>
            <a:srgbClr val="F4F6F7"/>
          </a:solidFill>
          <a:ln w="9525">
            <a:solidFill>
              <a:srgbClr val="D5DBD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92240" y="1609344"/>
            <a:ext cx="310896" cy="310896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92240" y="16093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922008" y="155448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Repeatable strike energy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519672" y="2011680"/>
            <a:ext cx="4983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5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solenoid + hardware-gated capture makes taps comparable cell to cell. A human hammer cannot deliver constant impulse energy — this is what makes the acoustics learnable.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2999232"/>
            <a:ext cx="5440680" cy="1463040"/>
          </a:xfrm>
          <a:prstGeom prst="roundRect">
            <a:avLst>
              <a:gd name="adj" fmla="val 3750"/>
            </a:avLst>
          </a:prstGeom>
          <a:solidFill>
            <a:srgbClr val="F4F6F7"/>
          </a:solidFill>
          <a:ln w="9525">
            <a:solidFill>
              <a:srgbClr val="D5DBD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236976"/>
            <a:ext cx="310896" cy="310896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32369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207008" y="318211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Self-validating accuracy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804672" y="3639312"/>
            <a:ext cx="4983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5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rover returns to origin and reports its own position error. Map trustworthiness is demonstrated, not asserted.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63640" y="2999232"/>
            <a:ext cx="5440680" cy="1463040"/>
          </a:xfrm>
          <a:prstGeom prst="roundRect">
            <a:avLst>
              <a:gd name="adj" fmla="val 3750"/>
            </a:avLst>
          </a:prstGeom>
          <a:solidFill>
            <a:srgbClr val="F4F6F7"/>
          </a:solidFill>
          <a:ln w="9525">
            <a:solidFill>
              <a:srgbClr val="D5DBD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92240" y="3236976"/>
            <a:ext cx="310896" cy="310896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92240" y="32369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922008" y="318211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Audience-verifiable result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6519672" y="3639312"/>
            <a:ext cx="4983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5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a judge a coin. They tap the panel and hear the hollow spot exactly where the robot marked it. Independently confirmed in five seconds.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4626864"/>
            <a:ext cx="5440680" cy="1463040"/>
          </a:xfrm>
          <a:prstGeom prst="roundRect">
            <a:avLst>
              <a:gd name="adj" fmla="val 3750"/>
            </a:avLst>
          </a:prstGeom>
          <a:solidFill>
            <a:srgbClr val="F4F6F7"/>
          </a:solidFill>
          <a:ln w="9525">
            <a:solidFill>
              <a:srgbClr val="D5DB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" y="4864608"/>
            <a:ext cx="310896" cy="310896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77240" y="48646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207008" y="4809744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dataset that does not exist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804672" y="5266944"/>
            <a:ext cx="4983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5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labelled bonded/debonded tap-acoustic dataset is a publishable contribution in its own right.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263640" y="4626864"/>
            <a:ext cx="5440680" cy="1463040"/>
          </a:xfrm>
          <a:prstGeom prst="roundRect">
            <a:avLst>
              <a:gd name="adj" fmla="val 3750"/>
            </a:avLst>
          </a:prstGeom>
          <a:solidFill>
            <a:srgbClr val="F4F6F7"/>
          </a:solidFill>
          <a:ln w="9525">
            <a:solidFill>
              <a:srgbClr val="D5DBD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92240" y="4864608"/>
            <a:ext cx="310896" cy="310896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492240" y="48646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6922008" y="4809744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Deployable economics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6519672" y="5266944"/>
            <a:ext cx="4983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5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₹3,000 against several lakh for commercial acoustic NDT — the difference between a lab instrument and something a municipality could actually buy.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9202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TapMap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7889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100" dirty="0">
                <a:solidFill>
                  <a:srgbClr val="F5A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a human ear-based safety check into an objective,</a:t>
            </a:r>
            <a:endParaRPr lang="en-US" sz="21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2100" dirty="0">
                <a:solidFill>
                  <a:srgbClr val="F5A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repeatable, documented robotic survey.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2062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₹3,000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8006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8A5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BUILD COST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3520440" y="42062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~150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3520440" y="48006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8A5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TAPS PER M²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309360" y="42062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0.19 mm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6309360" y="48006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8A5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ODOMETRY RESOLUTION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9098280" y="42062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9098280" y="48006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8A5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MODELS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56235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A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2026-09-08T16:01:54Z</dcterms:created>
  <dcterms:modified xsi:type="dcterms:W3CDTF">2026-09-08T16:01:54Z</dcterms:modified>
</cp:coreProperties>
</file>